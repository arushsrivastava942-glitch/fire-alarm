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9" r:id="rId1"/>
  </p:sldMasterIdLst>
  <p:sldIdLst>
    <p:sldId id="256" r:id="rId2"/>
    <p:sldId id="273" r:id="rId3"/>
    <p:sldId id="271" r:id="rId4"/>
    <p:sldId id="270" r:id="rId5"/>
    <p:sldId id="268" r:id="rId6"/>
    <p:sldId id="274" r:id="rId7"/>
    <p:sldId id="257" r:id="rId8"/>
    <p:sldId id="258" r:id="rId9"/>
    <p:sldId id="259" r:id="rId10"/>
    <p:sldId id="260" r:id="rId11"/>
    <p:sldId id="261" r:id="rId12"/>
    <p:sldId id="264" r:id="rId13"/>
    <p:sldId id="272" r:id="rId14"/>
    <p:sldId id="265" r:id="rId15"/>
    <p:sldId id="266" r:id="rId16"/>
    <p:sldId id="269"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DE3E74-B28C-427D-BEF4-E926B070283D}" v="29" dt="2026-07-26T13:26:09.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IN"/>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647FA800-C2B9-43F8-8749-EED32B5E6DD0}" type="slidenum">
              <a:rPr lang="en-IN" smtClean="0"/>
              <a:t>‹#›</a:t>
            </a:fld>
            <a:endParaRPr lang="en-IN"/>
          </a:p>
        </p:txBody>
      </p:sp>
    </p:spTree>
    <p:extLst>
      <p:ext uri="{BB962C8B-B14F-4D97-AF65-F5344CB8AC3E}">
        <p14:creationId xmlns:p14="http://schemas.microsoft.com/office/powerpoint/2010/main" val="127674525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013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197089C4-5082-4A5C-B832-FE8DB4C5CD51}" type="datetimeFigureOut">
              <a:rPr lang="en-IN" smtClean="0"/>
              <a:t>27-07-2026</a:t>
            </a:fld>
            <a:endParaRPr lang="en-IN"/>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647FA800-C2B9-43F8-8749-EED32B5E6DD0}" type="slidenum">
              <a:rPr lang="en-IN" smtClean="0"/>
              <a:t>‹#›</a:t>
            </a:fld>
            <a:endParaRPr lang="en-IN"/>
          </a:p>
        </p:txBody>
      </p:sp>
    </p:spTree>
    <p:extLst>
      <p:ext uri="{BB962C8B-B14F-4D97-AF65-F5344CB8AC3E}">
        <p14:creationId xmlns:p14="http://schemas.microsoft.com/office/powerpoint/2010/main" val="28746542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197089C4-5082-4A5C-B832-FE8DB4C5CD51}" type="datetimeFigureOut">
              <a:rPr lang="en-IN" smtClean="0"/>
              <a:t>27-07-2026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647FA800-C2B9-43F8-8749-EED32B5E6DD0}" type="slidenum">
              <a:rPr lang="en-IN" smtClean="0"/>
              <a:t>‹#›</a:t>
            </a:fld>
            <a:endParaRPr lang="en-IN"/>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6206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647FA800-C2B9-43F8-8749-EED32B5E6DD0}" type="slidenum">
              <a:rPr lang="en-IN" smtClean="0"/>
              <a:t>‹#›</a:t>
            </a:fld>
            <a:endParaRPr lang="en-IN"/>
          </a:p>
        </p:txBody>
      </p:sp>
    </p:spTree>
    <p:extLst>
      <p:ext uri="{BB962C8B-B14F-4D97-AF65-F5344CB8AC3E}">
        <p14:creationId xmlns:p14="http://schemas.microsoft.com/office/powerpoint/2010/main" val="284033013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IN"/>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273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197089C4-5082-4A5C-B832-FE8DB4C5CD51}" type="datetimeFigureOut">
              <a:rPr lang="en-IN" smtClean="0"/>
              <a:t>27-07-2026</a:t>
            </a:fld>
            <a:endParaRPr lang="en-IN"/>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IN"/>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89600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24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IN"/>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978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IN"/>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083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197089C4-5082-4A5C-B832-FE8DB4C5CD51}" type="datetimeFigureOut">
              <a:rPr lang="en-IN" smtClean="0"/>
              <a:t>27-07-2026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647FA800-C2B9-43F8-8749-EED32B5E6DD0}" type="slidenum">
              <a:rPr lang="en-IN" smtClean="0"/>
              <a:t>‹#›</a:t>
            </a:fld>
            <a:endParaRPr lang="en-IN"/>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789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197089C4-5082-4A5C-B832-FE8DB4C5CD51}" type="datetimeFigureOut">
              <a:rPr lang="en-IN" smtClean="0"/>
              <a:t>27-07-2026</a:t>
            </a:fld>
            <a:endParaRPr lang="en-IN"/>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IN"/>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7952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97089C4-5082-4A5C-B832-FE8DB4C5CD51}" type="datetimeFigureOut">
              <a:rPr lang="en-IN" smtClean="0"/>
              <a:t>27-07-2026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453004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197089C4-5082-4A5C-B832-FE8DB4C5CD51}" type="datetimeFigureOut">
              <a:rPr lang="en-IN" smtClean="0"/>
              <a:t>27-07-2026</a:t>
            </a:fld>
            <a:endParaRPr lang="en-IN"/>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IN"/>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933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IN"/>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647FA800-C2B9-43F8-8749-EED32B5E6DD0}"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679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197089C4-5082-4A5C-B832-FE8DB4C5CD51}" type="datetimeFigureOut">
              <a:rPr lang="en-IN" smtClean="0"/>
              <a:t>27-07-2026</a:t>
            </a:fld>
            <a:endParaRPr lang="en-IN"/>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IN"/>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647FA800-C2B9-43F8-8749-EED32B5E6DD0}" type="slidenum">
              <a:rPr lang="en-IN" smtClean="0"/>
              <a:t>‹#›</a:t>
            </a:fld>
            <a:endParaRPr lang="en-IN"/>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338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5606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3595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IN"/>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3923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647FA800-C2B9-43F8-8749-EED32B5E6DD0}" type="slidenum">
              <a:rPr lang="en-IN" smtClean="0"/>
              <a:t>‹#›</a:t>
            </a:fld>
            <a:endParaRPr lang="en-IN"/>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81036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647FA800-C2B9-43F8-8749-EED32B5E6DD0}" type="slidenum">
              <a:rPr lang="en-IN" smtClean="0"/>
              <a:t>‹#›</a:t>
            </a:fld>
            <a:endParaRPr lang="en-IN"/>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46847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97089C4-5082-4A5C-B832-FE8DB4C5CD51}" type="datetimeFigureOut">
              <a:rPr lang="en-IN" smtClean="0"/>
              <a:t>27-07-2026</a:t>
            </a:fld>
            <a:endParaRPr lang="en-IN"/>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647FA800-C2B9-43F8-8749-EED32B5E6DD0}" type="slidenum">
              <a:rPr lang="en-IN" smtClean="0"/>
              <a:t>‹#›</a:t>
            </a:fld>
            <a:endParaRPr lang="en-IN"/>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3675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197089C4-5082-4A5C-B832-FE8DB4C5CD51}" type="datetimeFigureOut">
              <a:rPr lang="en-IN" smtClean="0"/>
              <a:t>27-07-2026</a:t>
            </a:fld>
            <a:endParaRPr lang="en-IN"/>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IN"/>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647FA800-C2B9-43F8-8749-EED32B5E6DD0}" type="slidenum">
              <a:rPr lang="en-IN" smtClean="0"/>
              <a:t>‹#›</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76697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IN"/>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647FA800-C2B9-43F8-8749-EED32B5E6DD0}" type="slidenum">
              <a:rPr lang="en-IN" smtClean="0"/>
              <a:t>‹#›</a:t>
            </a:fld>
            <a:endParaRPr lang="en-IN"/>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65093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197089C4-5082-4A5C-B832-FE8DB4C5CD51}" type="datetimeFigureOut">
              <a:rPr lang="en-IN" smtClean="0"/>
              <a:t>27-07-2026</a:t>
            </a:fld>
            <a:endParaRPr lang="en-IN"/>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IN"/>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647FA800-C2B9-43F8-8749-EED32B5E6DD0}"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946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97089C4-5082-4A5C-B832-FE8DB4C5CD51}" type="datetimeFigureOut">
              <a:rPr lang="en-IN" smtClean="0"/>
              <a:t>27-07-2026</a:t>
            </a:fld>
            <a:endParaRPr lang="en-IN"/>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647FA800-C2B9-43F8-8749-EED32B5E6DD0}" type="slidenum">
              <a:rPr lang="en-IN" smtClean="0"/>
              <a:t>‹#›</a:t>
            </a:fld>
            <a:endParaRPr lang="en-IN"/>
          </a:p>
        </p:txBody>
      </p:sp>
    </p:spTree>
    <p:extLst>
      <p:ext uri="{BB962C8B-B14F-4D97-AF65-F5344CB8AC3E}">
        <p14:creationId xmlns:p14="http://schemas.microsoft.com/office/powerpoint/2010/main" val="20877583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97089C4-5082-4A5C-B832-FE8DB4C5CD51}" type="datetimeFigureOut">
              <a:rPr lang="en-IN" smtClean="0"/>
              <a:t>27-07-2026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647FA800-C2B9-43F8-8749-EED32B5E6DD0}" type="slidenum">
              <a:rPr lang="en-IN" smtClean="0"/>
              <a:t>‹#›</a:t>
            </a:fld>
            <a:endParaRPr lang="en-IN"/>
          </a:p>
        </p:txBody>
      </p:sp>
    </p:spTree>
    <p:extLst>
      <p:ext uri="{BB962C8B-B14F-4D97-AF65-F5344CB8AC3E}">
        <p14:creationId xmlns:p14="http://schemas.microsoft.com/office/powerpoint/2010/main" val="2776443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197089C4-5082-4A5C-B832-FE8DB4C5CD51}" type="datetimeFigureOut">
              <a:rPr lang="en-IN" smtClean="0"/>
              <a:t>27-07-2026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647FA800-C2B9-43F8-8749-EED32B5E6DD0}"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921774"/>
      </p:ext>
    </p:extLst>
  </p:cSld>
  <p:clrMap bg1="dk1" tx1="lt1" bg2="dk2" tx2="lt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 id="2147483974" r:id="rId15"/>
    <p:sldLayoutId id="2147483975" r:id="rId16"/>
    <p:sldLayoutId id="2147483976" r:id="rId17"/>
    <p:sldLayoutId id="2147483977" r:id="rId18"/>
    <p:sldLayoutId id="2147483978" r:id="rId19"/>
    <p:sldLayoutId id="2147483979" r:id="rId20"/>
    <p:sldLayoutId id="2147483980" r:id="rId21"/>
    <p:sldLayoutId id="2147483981" r:id="rId22"/>
    <p:sldLayoutId id="2147483982" r:id="rId23"/>
    <p:sldLayoutId id="2147483983" r:id="rId24"/>
    <p:sldLayoutId id="2147483984" r:id="rId25"/>
    <p:sldLayoutId id="2147483985" r:id="rId26"/>
    <p:sldLayoutId id="2147483986"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EED30-26AE-B434-849C-A437DDBCFAFC}"/>
              </a:ext>
            </a:extLst>
          </p:cNvPr>
          <p:cNvSpPr>
            <a:spLocks noGrp="1"/>
          </p:cNvSpPr>
          <p:nvPr>
            <p:ph type="title"/>
          </p:nvPr>
        </p:nvSpPr>
        <p:spPr>
          <a:xfrm>
            <a:off x="3716594" y="1133214"/>
            <a:ext cx="4129548" cy="1825674"/>
          </a:xfrm>
        </p:spPr>
        <p:txBody>
          <a:bodyPr>
            <a:normAutofit fontScale="90000"/>
          </a:bodyPr>
          <a:lstStyle/>
          <a:p>
            <a:r>
              <a:rPr lang="en-IN" sz="7200" b="1" u="sng" dirty="0"/>
              <a:t>Fire Alarm </a:t>
            </a:r>
            <a:br>
              <a:rPr lang="en-IN" b="1" u="sng" dirty="0"/>
            </a:br>
            <a:endParaRPr lang="en-IN" u="sng" dirty="0"/>
          </a:p>
        </p:txBody>
      </p:sp>
      <p:sp>
        <p:nvSpPr>
          <p:cNvPr id="3" name="Subtitle 2">
            <a:extLst>
              <a:ext uri="{FF2B5EF4-FFF2-40B4-BE49-F238E27FC236}">
                <a16:creationId xmlns:a16="http://schemas.microsoft.com/office/drawing/2014/main" id="{8D1BFF1E-0166-5968-F7A2-AD32B1343CE9}"/>
              </a:ext>
            </a:extLst>
          </p:cNvPr>
          <p:cNvSpPr>
            <a:spLocks noGrp="1"/>
          </p:cNvSpPr>
          <p:nvPr>
            <p:ph type="subTitle" idx="1"/>
          </p:nvPr>
        </p:nvSpPr>
        <p:spPr>
          <a:xfrm>
            <a:off x="2418080" y="3899113"/>
            <a:ext cx="7630488" cy="2223389"/>
          </a:xfrm>
        </p:spPr>
        <p:txBody>
          <a:bodyPr>
            <a:normAutofit/>
          </a:bodyPr>
          <a:lstStyle/>
          <a:p>
            <a:r>
              <a:rPr lang="en-IN" sz="3600" b="1" dirty="0"/>
              <a:t>"</a:t>
            </a:r>
            <a:r>
              <a:rPr lang="en-IN" sz="4000" b="1" u="sng" dirty="0">
                <a:latin typeface="Bahnschrift SemiLight" panose="020B0502040204020203" pitchFamily="34" charset="0"/>
              </a:rPr>
              <a:t>Sensing Heat, Securing Lives</a:t>
            </a:r>
            <a:r>
              <a:rPr lang="en-IN" sz="3600" b="1" dirty="0"/>
              <a:t>."</a:t>
            </a:r>
          </a:p>
        </p:txBody>
      </p:sp>
    </p:spTree>
    <p:extLst>
      <p:ext uri="{BB962C8B-B14F-4D97-AF65-F5344CB8AC3E}">
        <p14:creationId xmlns:p14="http://schemas.microsoft.com/office/powerpoint/2010/main" val="90615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ADBB4-DC04-03F4-00C7-6E90A3B766B8}"/>
              </a:ext>
            </a:extLst>
          </p:cNvPr>
          <p:cNvSpPr>
            <a:spLocks noGrp="1"/>
          </p:cNvSpPr>
          <p:nvPr>
            <p:ph type="title"/>
          </p:nvPr>
        </p:nvSpPr>
        <p:spPr>
          <a:xfrm>
            <a:off x="4218039" y="722282"/>
            <a:ext cx="3106993" cy="731520"/>
          </a:xfrm>
        </p:spPr>
        <p:txBody>
          <a:bodyPr>
            <a:normAutofit/>
          </a:bodyPr>
          <a:lstStyle/>
          <a:p>
            <a:r>
              <a:rPr lang="en-US" sz="4400" b="1" u="sng" dirty="0"/>
              <a:t>Introduction</a:t>
            </a:r>
            <a:endParaRPr lang="en-IN" sz="4400" b="1" u="sng" dirty="0"/>
          </a:p>
        </p:txBody>
      </p:sp>
      <p:sp>
        <p:nvSpPr>
          <p:cNvPr id="3" name="Content Placeholder 2">
            <a:extLst>
              <a:ext uri="{FF2B5EF4-FFF2-40B4-BE49-F238E27FC236}">
                <a16:creationId xmlns:a16="http://schemas.microsoft.com/office/drawing/2014/main" id="{EF0C9198-65E3-E2EA-9E74-353D519B151A}"/>
              </a:ext>
            </a:extLst>
          </p:cNvPr>
          <p:cNvSpPr>
            <a:spLocks noGrp="1"/>
          </p:cNvSpPr>
          <p:nvPr>
            <p:ph sz="quarter" idx="13"/>
          </p:nvPr>
        </p:nvSpPr>
        <p:spPr>
          <a:xfrm>
            <a:off x="301752" y="1710813"/>
            <a:ext cx="11402568" cy="4689987"/>
          </a:xfrm>
        </p:spPr>
        <p:txBody>
          <a:bodyPr>
            <a:normAutofit/>
          </a:bodyPr>
          <a:lstStyle/>
          <a:p>
            <a:r>
              <a:rPr lang="en-US" sz="2400" dirty="0"/>
              <a:t>Fire Alarm fire alarm is an electronic safety system that detects fire and gives a warning.</a:t>
            </a:r>
          </a:p>
          <a:p>
            <a:r>
              <a:rPr lang="en-US" sz="2400" dirty="0"/>
              <a:t>It consists of a sensor, controller, buzzer, LED, and power supply. </a:t>
            </a:r>
          </a:p>
          <a:p>
            <a:r>
              <a:rPr lang="en-US" sz="2400" dirty="0"/>
              <a:t>In our project, we use a flame sensor to detect fire. When the flame sensor detects a flame, it sends a signal to the Arduino. </a:t>
            </a:r>
          </a:p>
          <a:p>
            <a:r>
              <a:rPr lang="en-US" sz="2400" dirty="0"/>
              <a:t>The Arduino processes the signal and turns ON the buzzer and LED. </a:t>
            </a:r>
          </a:p>
          <a:p>
            <a:r>
              <a:rPr lang="en-US" sz="2400" dirty="0"/>
              <a:t>So, the basic working is: Flame → Flame Sensor → Arduino → Buzzer + LED The main purpose of a fire alarm is to give an early warning and help keep people safe.</a:t>
            </a:r>
            <a:endParaRPr lang="en-IN" sz="2400" dirty="0"/>
          </a:p>
        </p:txBody>
      </p:sp>
    </p:spTree>
    <p:extLst>
      <p:ext uri="{BB962C8B-B14F-4D97-AF65-F5344CB8AC3E}">
        <p14:creationId xmlns:p14="http://schemas.microsoft.com/office/powerpoint/2010/main" val="1426138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674AC-E35B-A5BB-00E5-952DA454FDD8}"/>
              </a:ext>
            </a:extLst>
          </p:cNvPr>
          <p:cNvSpPr>
            <a:spLocks noGrp="1"/>
          </p:cNvSpPr>
          <p:nvPr>
            <p:ph type="title"/>
          </p:nvPr>
        </p:nvSpPr>
        <p:spPr>
          <a:xfrm>
            <a:off x="4050891" y="68826"/>
            <a:ext cx="2871020" cy="983226"/>
          </a:xfrm>
        </p:spPr>
        <p:txBody>
          <a:bodyPr>
            <a:noAutofit/>
          </a:bodyPr>
          <a:lstStyle/>
          <a:p>
            <a:r>
              <a:rPr lang="en-US" sz="6000" b="1" u="sng" dirty="0"/>
              <a:t>Working</a:t>
            </a:r>
            <a:endParaRPr lang="en-IN" sz="6000" b="1" u="sng" dirty="0"/>
          </a:p>
        </p:txBody>
      </p:sp>
      <p:sp>
        <p:nvSpPr>
          <p:cNvPr id="3" name="Content Placeholder 2">
            <a:extLst>
              <a:ext uri="{FF2B5EF4-FFF2-40B4-BE49-F238E27FC236}">
                <a16:creationId xmlns:a16="http://schemas.microsoft.com/office/drawing/2014/main" id="{BB530C0B-0D16-8020-179E-1B611E65866B}"/>
              </a:ext>
            </a:extLst>
          </p:cNvPr>
          <p:cNvSpPr>
            <a:spLocks noGrp="1"/>
          </p:cNvSpPr>
          <p:nvPr>
            <p:ph sz="quarter" idx="13"/>
          </p:nvPr>
        </p:nvSpPr>
        <p:spPr>
          <a:xfrm>
            <a:off x="301752" y="1661651"/>
            <a:ext cx="11402568" cy="5024283"/>
          </a:xfrm>
        </p:spPr>
        <p:txBody>
          <a:bodyPr>
            <a:normAutofit/>
          </a:bodyPr>
          <a:lstStyle/>
          <a:p>
            <a:pPr marL="342900" indent="-342900">
              <a:buFont typeface="Arial" panose="020B0604020202020204" pitchFamily="34" charset="0"/>
              <a:buChar char="•"/>
            </a:pPr>
            <a:r>
              <a:rPr lang="en-IN" sz="2400" b="1" dirty="0"/>
              <a:t>Detection:</a:t>
            </a:r>
            <a:r>
              <a:rPr lang="en-IN" sz="2400" dirty="0"/>
              <a:t> The IR receiver on the red module monitors the surroundings for infrared light emitted by fire.</a:t>
            </a:r>
          </a:p>
          <a:p>
            <a:pPr marL="342900" indent="-342900">
              <a:buFont typeface="Arial" panose="020B0604020202020204" pitchFamily="34" charset="0"/>
              <a:buChar char="•"/>
            </a:pPr>
            <a:r>
              <a:rPr lang="en-IN" sz="2400" b="1" dirty="0"/>
              <a:t>Signal:</a:t>
            </a:r>
            <a:r>
              <a:rPr lang="en-IN" sz="2400" dirty="0"/>
              <a:t> When a flame is detected within range, the module's digital output pin (DO) changes state and notifies </a:t>
            </a:r>
            <a:r>
              <a:rPr lang="en-IN" sz="2400" b="1" dirty="0"/>
              <a:t>Pin 2</a:t>
            </a:r>
            <a:r>
              <a:rPr lang="en-IN" sz="2400" dirty="0"/>
              <a:t> on the Arduino.</a:t>
            </a:r>
          </a:p>
          <a:p>
            <a:pPr marL="342900" indent="-342900">
              <a:buFont typeface="Arial" panose="020B0604020202020204" pitchFamily="34" charset="0"/>
              <a:buChar char="•"/>
            </a:pPr>
            <a:r>
              <a:rPr lang="en-IN" sz="2400" b="1" dirty="0"/>
              <a:t>Action:</a:t>
            </a:r>
            <a:r>
              <a:rPr lang="en-IN" sz="2400" dirty="0"/>
              <a:t> The Arduino code reads the signal from Pin 2 and immediately sets:</a:t>
            </a:r>
          </a:p>
          <a:p>
            <a:pPr marL="342900" indent="-342900">
              <a:buFont typeface="Courier New" panose="02070309020205020404" pitchFamily="49" charset="0"/>
              <a:buChar char="o"/>
            </a:pPr>
            <a:r>
              <a:rPr lang="en-IN" sz="2400" b="1" dirty="0"/>
              <a:t>Pin 8 HIGH</a:t>
            </a:r>
            <a:r>
              <a:rPr lang="en-IN" sz="2400" dirty="0"/>
              <a:t> to sound the buzzer.</a:t>
            </a:r>
          </a:p>
          <a:p>
            <a:pPr marL="342900" indent="-342900">
              <a:buFont typeface="Courier New" panose="02070309020205020404" pitchFamily="49" charset="0"/>
              <a:buChar char="o"/>
            </a:pPr>
            <a:r>
              <a:rPr lang="en-IN" sz="2400" b="1" dirty="0"/>
              <a:t>Pin 9 HIGH</a:t>
            </a:r>
            <a:r>
              <a:rPr lang="en-IN" sz="2400" dirty="0"/>
              <a:t> to light up the red LED.</a:t>
            </a:r>
          </a:p>
          <a:p>
            <a:pPr marL="342900" indent="-342900">
              <a:buFont typeface="Arial" panose="020B0604020202020204" pitchFamily="34" charset="0"/>
              <a:buChar char="•"/>
            </a:pPr>
            <a:r>
              <a:rPr lang="en-IN" sz="2400" b="1" dirty="0"/>
              <a:t>Reset:</a:t>
            </a:r>
            <a:r>
              <a:rPr lang="en-IN" sz="2400" dirty="0"/>
              <a:t> Once the flame is removed, the sensor signal clears, and the Arduino turns off the LED and buzzer.</a:t>
            </a:r>
          </a:p>
          <a:p>
            <a:endParaRPr lang="en-IN" dirty="0"/>
          </a:p>
        </p:txBody>
      </p:sp>
    </p:spTree>
    <p:extLst>
      <p:ext uri="{BB962C8B-B14F-4D97-AF65-F5344CB8AC3E}">
        <p14:creationId xmlns:p14="http://schemas.microsoft.com/office/powerpoint/2010/main" val="3490122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9456C-FE65-7556-5637-BB2E1B9BC277}"/>
              </a:ext>
            </a:extLst>
          </p:cNvPr>
          <p:cNvSpPr>
            <a:spLocks noGrp="1"/>
          </p:cNvSpPr>
          <p:nvPr>
            <p:ph type="title"/>
          </p:nvPr>
        </p:nvSpPr>
        <p:spPr>
          <a:xfrm>
            <a:off x="3921761" y="722282"/>
            <a:ext cx="4257040" cy="731520"/>
          </a:xfrm>
        </p:spPr>
        <p:txBody>
          <a:bodyPr>
            <a:noAutofit/>
          </a:bodyPr>
          <a:lstStyle/>
          <a:p>
            <a:r>
              <a:rPr lang="en-US" sz="6000" b="1" u="sng" dirty="0"/>
              <a:t>Applications</a:t>
            </a:r>
            <a:endParaRPr lang="en-IN" sz="6000" b="1" u="sng" dirty="0"/>
          </a:p>
        </p:txBody>
      </p:sp>
      <p:sp>
        <p:nvSpPr>
          <p:cNvPr id="3" name="Content Placeholder 2">
            <a:extLst>
              <a:ext uri="{FF2B5EF4-FFF2-40B4-BE49-F238E27FC236}">
                <a16:creationId xmlns:a16="http://schemas.microsoft.com/office/drawing/2014/main" id="{9901A5EE-BC80-C46B-1FC7-5CD0B81CDF25}"/>
              </a:ext>
            </a:extLst>
          </p:cNvPr>
          <p:cNvSpPr>
            <a:spLocks noGrp="1"/>
          </p:cNvSpPr>
          <p:nvPr>
            <p:ph sz="quarter" idx="13"/>
          </p:nvPr>
        </p:nvSpPr>
        <p:spPr/>
        <p:txBody>
          <a:bodyPr/>
          <a:lstStyle/>
          <a:p>
            <a:pPr marL="457200" indent="-457200">
              <a:buFont typeface="Arial" panose="020B0604020202020204" pitchFamily="34" charset="0"/>
              <a:buChar char="•"/>
            </a:pPr>
            <a:r>
              <a:rPr lang="en-US" sz="2800" dirty="0"/>
              <a:t>This prototype serves as a foundational building block for practical safety and automation systems, including smart home security alarms, fire/flame detectors, or robotics obstacle avoidance.</a:t>
            </a:r>
          </a:p>
          <a:p>
            <a:endParaRPr lang="en-US" sz="2800" dirty="0"/>
          </a:p>
          <a:p>
            <a:pPr marL="457200" indent="-457200">
              <a:buFont typeface="Arial" panose="020B0604020202020204" pitchFamily="34" charset="0"/>
              <a:buChar char="•"/>
            </a:pPr>
            <a:r>
              <a:rPr lang="en-US" sz="2800" dirty="0"/>
              <a:t> Future enhancements could include integrating an LCD display to show system status or adding a Wi-Fi/Bluetooth module (e.g., ESP8266/ESP32) to send remote notifications to a smartphone</a:t>
            </a:r>
            <a:r>
              <a:rPr lang="en-US" dirty="0"/>
              <a:t>.</a:t>
            </a:r>
            <a:endParaRPr lang="en-IN" dirty="0"/>
          </a:p>
        </p:txBody>
      </p:sp>
    </p:spTree>
    <p:extLst>
      <p:ext uri="{BB962C8B-B14F-4D97-AF65-F5344CB8AC3E}">
        <p14:creationId xmlns:p14="http://schemas.microsoft.com/office/powerpoint/2010/main" val="358444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5C471-7C79-B460-238A-8697C3378E6A}"/>
              </a:ext>
            </a:extLst>
          </p:cNvPr>
          <p:cNvSpPr>
            <a:spLocks noGrp="1"/>
          </p:cNvSpPr>
          <p:nvPr>
            <p:ph type="title"/>
          </p:nvPr>
        </p:nvSpPr>
        <p:spPr>
          <a:xfrm>
            <a:off x="4013200" y="142240"/>
            <a:ext cx="3891281" cy="812800"/>
          </a:xfrm>
        </p:spPr>
        <p:txBody>
          <a:bodyPr>
            <a:noAutofit/>
          </a:bodyPr>
          <a:lstStyle/>
          <a:p>
            <a:r>
              <a:rPr lang="en-US" sz="5400" b="1" u="sng" dirty="0"/>
              <a:t>Advantages</a:t>
            </a:r>
            <a:endParaRPr lang="en-IN" sz="5400" b="1" u="sng" dirty="0"/>
          </a:p>
        </p:txBody>
      </p:sp>
      <p:sp>
        <p:nvSpPr>
          <p:cNvPr id="3" name="Content Placeholder 2">
            <a:extLst>
              <a:ext uri="{FF2B5EF4-FFF2-40B4-BE49-F238E27FC236}">
                <a16:creationId xmlns:a16="http://schemas.microsoft.com/office/drawing/2014/main" id="{2E217C8E-36B9-4D6F-0476-0D4B0D7EF863}"/>
              </a:ext>
            </a:extLst>
          </p:cNvPr>
          <p:cNvSpPr>
            <a:spLocks noGrp="1"/>
          </p:cNvSpPr>
          <p:nvPr>
            <p:ph sz="quarter" idx="13"/>
          </p:nvPr>
        </p:nvSpPr>
        <p:spPr>
          <a:xfrm>
            <a:off x="301752" y="1727200"/>
            <a:ext cx="11402568" cy="4988560"/>
          </a:xfrm>
        </p:spPr>
        <p:txBody>
          <a:bodyPr>
            <a:normAutofit/>
          </a:bodyPr>
          <a:lstStyle/>
          <a:p>
            <a:pPr marL="342900" indent="-342900">
              <a:buFont typeface="Arial" panose="020B0604020202020204" pitchFamily="34" charset="0"/>
              <a:buChar char="•"/>
            </a:pPr>
            <a:r>
              <a:rPr lang="en-US" sz="2400" dirty="0"/>
              <a:t>Early Flame Detection: Provides instant audio-visual warnings (buzzer and LED) as soon as infrared light from fire is detected.</a:t>
            </a:r>
          </a:p>
          <a:p>
            <a:pPr marL="342900" indent="-342900">
              <a:buFont typeface="Arial" panose="020B0604020202020204" pitchFamily="34" charset="0"/>
              <a:buChar char="•"/>
            </a:pPr>
            <a:r>
              <a:rPr lang="en-US" sz="2400" dirty="0"/>
              <a:t>Low Cost &amp; Accessible: Built using inexpensive components like an Arduino Uno, flame sensor module, buzzer, and LED, making it budget-friendly.</a:t>
            </a:r>
          </a:p>
          <a:p>
            <a:pPr marL="342900" indent="-342900">
              <a:buFont typeface="Arial" panose="020B0604020202020204" pitchFamily="34" charset="0"/>
              <a:buChar char="•"/>
            </a:pPr>
            <a:r>
              <a:rPr lang="en-US" sz="2400" dirty="0"/>
              <a:t>Simple Circuit Design: Easy to construct, troubleshoot, and demonstrate for school, college, or prototype projects.</a:t>
            </a:r>
          </a:p>
          <a:p>
            <a:pPr marL="342900" indent="-342900">
              <a:buFont typeface="Arial" panose="020B0604020202020204" pitchFamily="34" charset="0"/>
              <a:buChar char="•"/>
            </a:pPr>
            <a:r>
              <a:rPr lang="en-US" sz="2400" dirty="0"/>
              <a:t>Programmable &amp; Scalable: The Arduino code can easily be updated to add features like GSM alerts (SMS notifications), temperature sensors (DHT11)</a:t>
            </a:r>
            <a:endParaRPr lang="en-IN" sz="2400" dirty="0"/>
          </a:p>
        </p:txBody>
      </p:sp>
    </p:spTree>
    <p:extLst>
      <p:ext uri="{BB962C8B-B14F-4D97-AF65-F5344CB8AC3E}">
        <p14:creationId xmlns:p14="http://schemas.microsoft.com/office/powerpoint/2010/main" val="1786627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A30C0-41A3-DEC9-9DE7-FC5A3ACB8837}"/>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D7D68EF5-930C-89D1-DBD6-76D4F9753B2D}"/>
              </a:ext>
            </a:extLst>
          </p:cNvPr>
          <p:cNvPicPr>
            <a:picLocks noGrp="1" noChangeAspect="1"/>
          </p:cNvPicPr>
          <p:nvPr>
            <p:ph sz="quarter" idx="13"/>
          </p:nvPr>
        </p:nvPicPr>
        <p:blipFill>
          <a:blip r:embed="rId2"/>
          <a:stretch>
            <a:fillRect/>
          </a:stretch>
        </p:blipFill>
        <p:spPr>
          <a:xfrm>
            <a:off x="127819" y="93727"/>
            <a:ext cx="11814276" cy="6543047"/>
          </a:xfrm>
          <a:prstGeom prst="rect">
            <a:avLst/>
          </a:prstGeom>
        </p:spPr>
      </p:pic>
      <p:pic>
        <p:nvPicPr>
          <p:cNvPr id="11" name="Graphic 10" descr="Fire with solid fill">
            <a:extLst>
              <a:ext uri="{FF2B5EF4-FFF2-40B4-BE49-F238E27FC236}">
                <a16:creationId xmlns:a16="http://schemas.microsoft.com/office/drawing/2014/main" id="{19116FE8-1B9F-2790-A6F1-C4F10B5D24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20632" y="5085735"/>
            <a:ext cx="914400" cy="914400"/>
          </a:xfrm>
          <a:prstGeom prst="rect">
            <a:avLst/>
          </a:prstGeom>
        </p:spPr>
      </p:pic>
    </p:spTree>
    <p:extLst>
      <p:ext uri="{BB962C8B-B14F-4D97-AF65-F5344CB8AC3E}">
        <p14:creationId xmlns:p14="http://schemas.microsoft.com/office/powerpoint/2010/main" val="249903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684A4-0122-465D-3C46-D7AC7DE85B51}"/>
              </a:ext>
            </a:extLst>
          </p:cNvPr>
          <p:cNvSpPr>
            <a:spLocks noGrp="1"/>
          </p:cNvSpPr>
          <p:nvPr>
            <p:ph type="title"/>
          </p:nvPr>
        </p:nvSpPr>
        <p:spPr/>
        <p:txBody>
          <a:bodyPr anchor="b">
            <a:normAutofit/>
          </a:bodyPr>
          <a:lstStyle/>
          <a:p>
            <a:r>
              <a:rPr lang="en-IN" sz="4600" b="1" u="sng" dirty="0"/>
              <a:t>Core Components Overview</a:t>
            </a:r>
            <a:br>
              <a:rPr lang="en-IN" sz="4600" dirty="0"/>
            </a:br>
            <a:endParaRPr lang="en-IN" sz="4600" dirty="0"/>
          </a:p>
        </p:txBody>
      </p:sp>
      <p:sp>
        <p:nvSpPr>
          <p:cNvPr id="8" name="Content Placeholder 2">
            <a:extLst>
              <a:ext uri="{FF2B5EF4-FFF2-40B4-BE49-F238E27FC236}">
                <a16:creationId xmlns:a16="http://schemas.microsoft.com/office/drawing/2014/main" id="{A88A7D26-1392-6057-B71F-A6190BDB4D00}"/>
              </a:ext>
            </a:extLst>
          </p:cNvPr>
          <p:cNvSpPr>
            <a:spLocks noGrp="1"/>
          </p:cNvSpPr>
          <p:nvPr>
            <p:ph sz="quarter" idx="13"/>
          </p:nvPr>
        </p:nvSpPr>
        <p:spPr/>
        <p:txBody>
          <a:bodyPr anchor="b">
            <a:normAutofit/>
          </a:bodyPr>
          <a:lstStyle/>
          <a:p>
            <a:pPr>
              <a:lnSpc>
                <a:spcPct val="110000"/>
              </a:lnSpc>
            </a:pPr>
            <a:r>
              <a:rPr lang="en-US" sz="2000" dirty="0"/>
              <a:t>Arduino Uno</a:t>
            </a:r>
          </a:p>
          <a:p>
            <a:pPr>
              <a:lnSpc>
                <a:spcPct val="110000"/>
              </a:lnSpc>
            </a:pPr>
            <a:r>
              <a:rPr lang="en-US" sz="2000" dirty="0"/>
              <a:t>Flame Sensor</a:t>
            </a:r>
          </a:p>
          <a:p>
            <a:pPr>
              <a:lnSpc>
                <a:spcPct val="110000"/>
              </a:lnSpc>
            </a:pPr>
            <a:r>
              <a:rPr lang="en-US" sz="2000" dirty="0"/>
              <a:t>Piezo Buzzer</a:t>
            </a:r>
          </a:p>
          <a:p>
            <a:pPr>
              <a:lnSpc>
                <a:spcPct val="110000"/>
              </a:lnSpc>
            </a:pPr>
            <a:r>
              <a:rPr lang="en-US" sz="2000" dirty="0"/>
              <a:t>LED</a:t>
            </a:r>
          </a:p>
          <a:p>
            <a:pPr>
              <a:lnSpc>
                <a:spcPct val="110000"/>
              </a:lnSpc>
            </a:pPr>
            <a:r>
              <a:rPr lang="en-US" sz="2000" dirty="0"/>
              <a:t>Jumper Wires</a:t>
            </a:r>
          </a:p>
          <a:p>
            <a:pPr>
              <a:lnSpc>
                <a:spcPct val="110000"/>
              </a:lnSpc>
            </a:pPr>
            <a:endParaRPr lang="en-US" sz="1500" dirty="0"/>
          </a:p>
        </p:txBody>
      </p:sp>
      <p:pic>
        <p:nvPicPr>
          <p:cNvPr id="10" name="Picture 9" descr="Electronics protoboard">
            <a:extLst>
              <a:ext uri="{FF2B5EF4-FFF2-40B4-BE49-F238E27FC236}">
                <a16:creationId xmlns:a16="http://schemas.microsoft.com/office/drawing/2014/main" id="{70EE5768-539B-BEA7-12F0-DD13EE949F73}"/>
              </a:ext>
            </a:extLst>
          </p:cNvPr>
          <p:cNvPicPr>
            <a:picLocks noChangeAspect="1"/>
          </p:cNvPicPr>
          <p:nvPr/>
        </p:nvPicPr>
        <p:blipFill>
          <a:blip r:embed="rId2"/>
          <a:srcRect t="56790" b="14142"/>
          <a:stretch>
            <a:fillRect/>
          </a:stretch>
        </p:blipFill>
        <p:spPr>
          <a:xfrm>
            <a:off x="20" y="4492402"/>
            <a:ext cx="12191980" cy="2365597"/>
          </a:xfrm>
          <a:prstGeom prst="rect">
            <a:avLst/>
          </a:prstGeom>
          <a:noFill/>
        </p:spPr>
      </p:pic>
    </p:spTree>
    <p:extLst>
      <p:ext uri="{BB962C8B-B14F-4D97-AF65-F5344CB8AC3E}">
        <p14:creationId xmlns:p14="http://schemas.microsoft.com/office/powerpoint/2010/main" val="1106522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F63473C-A617-5FF9-6BFF-0E21240B8CCA}"/>
              </a:ext>
            </a:extLst>
          </p:cNvPr>
          <p:cNvSpPr>
            <a:spLocks noGrp="1"/>
          </p:cNvSpPr>
          <p:nvPr>
            <p:ph type="title"/>
          </p:nvPr>
        </p:nvSpPr>
        <p:spPr/>
        <p:txBody>
          <a:bodyPr anchor="b">
            <a:normAutofit/>
          </a:bodyPr>
          <a:lstStyle/>
          <a:p>
            <a:r>
              <a:rPr lang="en-US" sz="4000" b="1" dirty="0"/>
              <a:t>Arduino UNO</a:t>
            </a:r>
          </a:p>
        </p:txBody>
      </p:sp>
      <p:sp>
        <p:nvSpPr>
          <p:cNvPr id="18" name="Content Placeholder 2">
            <a:extLst>
              <a:ext uri="{FF2B5EF4-FFF2-40B4-BE49-F238E27FC236}">
                <a16:creationId xmlns:a16="http://schemas.microsoft.com/office/drawing/2014/main" id="{C8EEA9AD-C672-5CBA-4BB0-ADE70DE27A00}"/>
              </a:ext>
            </a:extLst>
          </p:cNvPr>
          <p:cNvSpPr>
            <a:spLocks noGrp="1"/>
          </p:cNvSpPr>
          <p:nvPr>
            <p:ph sz="quarter" idx="14"/>
          </p:nvPr>
        </p:nvSpPr>
        <p:spPr/>
        <p:txBody>
          <a:bodyPr>
            <a:noAutofit/>
          </a:bodyPr>
          <a:lstStyle/>
          <a:p>
            <a:r>
              <a:rPr lang="en-US" sz="1800" b="1" u="sng" dirty="0"/>
              <a:t>Function</a:t>
            </a:r>
            <a:r>
              <a:rPr lang="en-US" sz="1800" b="1" dirty="0"/>
              <a:t>: Acts as the main microcontroller/brain of the circuit.</a:t>
            </a:r>
          </a:p>
          <a:p>
            <a:r>
              <a:rPr lang="en-US" sz="1800" b="1" u="sng" dirty="0"/>
              <a:t>Role</a:t>
            </a:r>
            <a:r>
              <a:rPr lang="en-US" sz="1800" b="1" dirty="0"/>
              <a:t>: It reads digital or analog signals from the sensor, executes the uploaded code logic, and controls output devices like the LED and buzzer based on those inputs</a:t>
            </a:r>
          </a:p>
        </p:txBody>
      </p:sp>
      <p:pic>
        <p:nvPicPr>
          <p:cNvPr id="6" name="Picture Placeholder 5">
            <a:extLst>
              <a:ext uri="{FF2B5EF4-FFF2-40B4-BE49-F238E27FC236}">
                <a16:creationId xmlns:a16="http://schemas.microsoft.com/office/drawing/2014/main" id="{241CF34F-A79D-7917-0855-FE85A012BCF1}"/>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1493" r="11493"/>
          <a:stretch/>
        </p:blipFill>
        <p:spPr>
          <a:prstGeom prst="rect">
            <a:avLst/>
          </a:prstGeom>
          <a:ln>
            <a:noFill/>
          </a:ln>
          <a:effectLst>
            <a:softEdge rad="112500"/>
          </a:effectLst>
        </p:spPr>
      </p:pic>
    </p:spTree>
    <p:extLst>
      <p:ext uri="{BB962C8B-B14F-4D97-AF65-F5344CB8AC3E}">
        <p14:creationId xmlns:p14="http://schemas.microsoft.com/office/powerpoint/2010/main" val="598043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FC07-A7BA-52E6-81BB-61DB36BA3BCF}"/>
              </a:ext>
            </a:extLst>
          </p:cNvPr>
          <p:cNvSpPr>
            <a:spLocks noGrp="1"/>
          </p:cNvSpPr>
          <p:nvPr>
            <p:ph type="title"/>
          </p:nvPr>
        </p:nvSpPr>
        <p:spPr>
          <a:xfrm>
            <a:off x="301751" y="952500"/>
            <a:ext cx="5138349" cy="968897"/>
          </a:xfrm>
        </p:spPr>
        <p:txBody>
          <a:bodyPr>
            <a:normAutofit/>
          </a:bodyPr>
          <a:lstStyle/>
          <a:p>
            <a:r>
              <a:rPr lang="en-US" sz="4800" b="1" u="sng" dirty="0"/>
              <a:t>Flame Sensor</a:t>
            </a:r>
            <a:endParaRPr lang="en-IN" sz="4800" b="1" u="sng" dirty="0"/>
          </a:p>
        </p:txBody>
      </p:sp>
      <p:sp>
        <p:nvSpPr>
          <p:cNvPr id="3" name="Content Placeholder 2">
            <a:extLst>
              <a:ext uri="{FF2B5EF4-FFF2-40B4-BE49-F238E27FC236}">
                <a16:creationId xmlns:a16="http://schemas.microsoft.com/office/drawing/2014/main" id="{C51BEE23-53E1-9CCB-19E1-45B1539C5D13}"/>
              </a:ext>
            </a:extLst>
          </p:cNvPr>
          <p:cNvSpPr>
            <a:spLocks noGrp="1"/>
          </p:cNvSpPr>
          <p:nvPr>
            <p:ph sz="quarter" idx="14"/>
          </p:nvPr>
        </p:nvSpPr>
        <p:spPr>
          <a:xfrm>
            <a:off x="301751" y="2511706"/>
            <a:ext cx="5404567" cy="4027990"/>
          </a:xfrm>
        </p:spPr>
        <p:txBody>
          <a:bodyPr>
            <a:noAutofit/>
          </a:bodyPr>
          <a:lstStyle/>
          <a:p>
            <a:r>
              <a:rPr lang="en-US" sz="1800" u="sng" dirty="0"/>
              <a:t>Role</a:t>
            </a:r>
            <a:r>
              <a:rPr lang="en-US" sz="1800" dirty="0"/>
              <a:t>: Input device (Detector).</a:t>
            </a:r>
          </a:p>
          <a:p>
            <a:r>
              <a:rPr lang="en-US" sz="1800" dirty="0"/>
              <a:t>​</a:t>
            </a:r>
            <a:r>
              <a:rPr lang="en-US" sz="1800" u="sng" dirty="0"/>
              <a:t>Function</a:t>
            </a:r>
            <a:r>
              <a:rPr lang="en-US" sz="1800" dirty="0"/>
              <a:t>: Detects infrared light emitted by fire or light sources.</a:t>
            </a:r>
          </a:p>
          <a:p>
            <a:r>
              <a:rPr lang="en-US" sz="1800" dirty="0"/>
              <a:t>​</a:t>
            </a:r>
            <a:r>
              <a:rPr lang="en-US" sz="1800" u="sng" dirty="0"/>
              <a:t>Key Features</a:t>
            </a:r>
            <a:r>
              <a:rPr lang="en-US" sz="1800" dirty="0"/>
              <a:t>:</a:t>
            </a:r>
          </a:p>
          <a:p>
            <a:r>
              <a:rPr lang="en-US" sz="1800" dirty="0"/>
              <a:t>​IR Receiver LED (Black Bulb): Senses the light/flame.</a:t>
            </a:r>
          </a:p>
          <a:p>
            <a:r>
              <a:rPr lang="en-US" sz="1800" dirty="0"/>
              <a:t>​Potentiometer (Blue Knob): Adjusts the detection sensitivity.</a:t>
            </a:r>
          </a:p>
          <a:p>
            <a:r>
              <a:rPr lang="en-US" sz="1800" dirty="0"/>
              <a:t>​Connections: Powered via 5V and GND pins, while sending its detection signal to digital pin 2.</a:t>
            </a:r>
            <a:endParaRPr lang="en-IN" sz="1800" dirty="0"/>
          </a:p>
        </p:txBody>
      </p:sp>
      <p:pic>
        <p:nvPicPr>
          <p:cNvPr id="6" name="Picture Placeholder 5">
            <a:extLst>
              <a:ext uri="{FF2B5EF4-FFF2-40B4-BE49-F238E27FC236}">
                <a16:creationId xmlns:a16="http://schemas.microsoft.com/office/drawing/2014/main" id="{F39182C1-0906-04B9-546C-3C11BDB93850}"/>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7346" b="7346"/>
          <a:stretch>
            <a:fillRect/>
          </a:stretch>
        </p:blipFill>
        <p:spPr>
          <a:xfrm>
            <a:off x="6192456" y="0"/>
            <a:ext cx="5999544" cy="6858000"/>
          </a:xfrm>
          <a:prstGeom prst="rect">
            <a:avLst/>
          </a:prstGeom>
          <a:blipFill dpi="0" rotWithShape="1">
            <a:blip r:embed="rId3">
              <a:alphaModFix amt="60000"/>
            </a:blip>
            <a:srcRect/>
            <a:stretch>
              <a:fillRect/>
            </a:stretch>
          </a:blipFill>
        </p:spPr>
      </p:pic>
    </p:spTree>
    <p:extLst>
      <p:ext uri="{BB962C8B-B14F-4D97-AF65-F5344CB8AC3E}">
        <p14:creationId xmlns:p14="http://schemas.microsoft.com/office/powerpoint/2010/main" val="324192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757B-6BC7-1FDB-7FAB-CA6E60907A46}"/>
              </a:ext>
            </a:extLst>
          </p:cNvPr>
          <p:cNvSpPr>
            <a:spLocks noGrp="1"/>
          </p:cNvSpPr>
          <p:nvPr>
            <p:ph type="title"/>
          </p:nvPr>
        </p:nvSpPr>
        <p:spPr>
          <a:xfrm>
            <a:off x="301752" y="952500"/>
            <a:ext cx="4707128" cy="1581912"/>
          </a:xfrm>
        </p:spPr>
        <p:txBody>
          <a:bodyPr>
            <a:normAutofit/>
          </a:bodyPr>
          <a:lstStyle/>
          <a:p>
            <a:r>
              <a:rPr lang="en-US" sz="4000" b="1" u="sng" dirty="0"/>
              <a:t>Piezo Buzzer</a:t>
            </a:r>
            <a:endParaRPr lang="en-IN" sz="4000" b="1" u="sng" dirty="0"/>
          </a:p>
        </p:txBody>
      </p:sp>
      <p:sp>
        <p:nvSpPr>
          <p:cNvPr id="3" name="Content Placeholder 2">
            <a:extLst>
              <a:ext uri="{FF2B5EF4-FFF2-40B4-BE49-F238E27FC236}">
                <a16:creationId xmlns:a16="http://schemas.microsoft.com/office/drawing/2014/main" id="{FBFCCC1C-55BB-45CD-F6A9-7BC99B602309}"/>
              </a:ext>
            </a:extLst>
          </p:cNvPr>
          <p:cNvSpPr>
            <a:spLocks noGrp="1"/>
          </p:cNvSpPr>
          <p:nvPr>
            <p:ph sz="quarter" idx="14"/>
          </p:nvPr>
        </p:nvSpPr>
        <p:spPr>
          <a:xfrm>
            <a:off x="301752" y="3099816"/>
            <a:ext cx="4778248" cy="3054096"/>
          </a:xfrm>
        </p:spPr>
        <p:txBody>
          <a:bodyPr>
            <a:noAutofit/>
          </a:bodyPr>
          <a:lstStyle/>
          <a:p>
            <a:r>
              <a:rPr lang="en-US" sz="2000" u="sng" dirty="0"/>
              <a:t>Role</a:t>
            </a:r>
            <a:r>
              <a:rPr lang="en-US" sz="2000" dirty="0"/>
              <a:t>: Audio output (Alert/Alarm).</a:t>
            </a:r>
          </a:p>
          <a:p>
            <a:r>
              <a:rPr lang="en-US" sz="2000" u="sng" dirty="0"/>
              <a:t>Function</a:t>
            </a:r>
            <a:r>
              <a:rPr lang="en-US" sz="2000" dirty="0"/>
              <a:t>: Generates a sound or alarm tone when it receives a voltage signal. In this setup, it triggers an acoustic alarm when the sensor detects a flame.</a:t>
            </a:r>
          </a:p>
          <a:p>
            <a:r>
              <a:rPr lang="en-US" sz="2000" dirty="0"/>
              <a:t>Connections: Connected between digital pin 8 and GND</a:t>
            </a:r>
            <a:endParaRPr lang="en-IN" sz="2000" dirty="0"/>
          </a:p>
        </p:txBody>
      </p:sp>
      <p:pic>
        <p:nvPicPr>
          <p:cNvPr id="10" name="Picture Placeholder 9">
            <a:extLst>
              <a:ext uri="{FF2B5EF4-FFF2-40B4-BE49-F238E27FC236}">
                <a16:creationId xmlns:a16="http://schemas.microsoft.com/office/drawing/2014/main" id="{86B91618-4366-947D-6ACB-9FBEEC0BD467}"/>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417" r="1417"/>
          <a:stretch>
            <a:fillRect/>
          </a:stretch>
        </p:blipFill>
        <p:spPr>
          <a:xfrm>
            <a:off x="5710238" y="274638"/>
            <a:ext cx="6257925" cy="6440487"/>
          </a:xfrm>
          <a:prstGeom prst="rect">
            <a:avLst/>
          </a:prstGeom>
          <a:blipFill dpi="0" rotWithShape="1">
            <a:blip r:embed="rId3">
              <a:alphaModFix amt="60000"/>
            </a:blip>
            <a:srcRect/>
            <a:stretch>
              <a:fillRect/>
            </a:stretch>
          </a:blipFill>
        </p:spPr>
      </p:pic>
    </p:spTree>
    <p:extLst>
      <p:ext uri="{BB962C8B-B14F-4D97-AF65-F5344CB8AC3E}">
        <p14:creationId xmlns:p14="http://schemas.microsoft.com/office/powerpoint/2010/main" val="3142503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AE63-0157-0CD6-4C81-5A0452A06043}"/>
              </a:ext>
            </a:extLst>
          </p:cNvPr>
          <p:cNvSpPr>
            <a:spLocks noGrp="1"/>
          </p:cNvSpPr>
          <p:nvPr>
            <p:ph type="title"/>
          </p:nvPr>
        </p:nvSpPr>
        <p:spPr>
          <a:xfrm>
            <a:off x="301751" y="952500"/>
            <a:ext cx="5624485" cy="1015196"/>
          </a:xfrm>
        </p:spPr>
        <p:txBody>
          <a:bodyPr>
            <a:normAutofit/>
          </a:bodyPr>
          <a:lstStyle/>
          <a:p>
            <a:r>
              <a:rPr lang="en-US" sz="4800" b="1" u="sng" dirty="0"/>
              <a:t>Jumper wires</a:t>
            </a:r>
            <a:endParaRPr lang="en-IN" sz="4800" b="1" u="sng" dirty="0"/>
          </a:p>
        </p:txBody>
      </p:sp>
      <p:sp>
        <p:nvSpPr>
          <p:cNvPr id="3" name="Content Placeholder 2">
            <a:extLst>
              <a:ext uri="{FF2B5EF4-FFF2-40B4-BE49-F238E27FC236}">
                <a16:creationId xmlns:a16="http://schemas.microsoft.com/office/drawing/2014/main" id="{BB6D2E7A-DFA2-6F49-635C-EA26E3400285}"/>
              </a:ext>
            </a:extLst>
          </p:cNvPr>
          <p:cNvSpPr>
            <a:spLocks noGrp="1"/>
          </p:cNvSpPr>
          <p:nvPr>
            <p:ph sz="quarter" idx="14"/>
          </p:nvPr>
        </p:nvSpPr>
        <p:spPr>
          <a:xfrm>
            <a:off x="301752" y="2858947"/>
            <a:ext cx="5624486" cy="3611301"/>
          </a:xfrm>
        </p:spPr>
        <p:txBody>
          <a:bodyPr>
            <a:noAutofit/>
          </a:bodyPr>
          <a:lstStyle/>
          <a:p>
            <a:r>
              <a:rPr lang="en-IN" sz="2000" dirty="0"/>
              <a:t>Jumper wires are short electrical cables with a pin or connector at each end, categorized into </a:t>
            </a:r>
            <a:r>
              <a:rPr lang="en-IN" sz="2000" b="1" dirty="0"/>
              <a:t>male-to-male</a:t>
            </a:r>
            <a:r>
              <a:rPr lang="en-IN" sz="2000" dirty="0"/>
              <a:t>, </a:t>
            </a:r>
            <a:r>
              <a:rPr lang="en-IN" sz="2000" b="1" dirty="0"/>
              <a:t>male-to-female</a:t>
            </a:r>
            <a:r>
              <a:rPr lang="en-IN" sz="2000" dirty="0"/>
              <a:t>, and </a:t>
            </a:r>
            <a:r>
              <a:rPr lang="en-IN" sz="2000" b="1" dirty="0"/>
              <a:t>female-to-female</a:t>
            </a:r>
            <a:r>
              <a:rPr lang="en-IN" sz="2000" dirty="0"/>
              <a:t> types.</a:t>
            </a:r>
          </a:p>
          <a:p>
            <a:r>
              <a:rPr lang="en-IN" sz="2000" dirty="0"/>
              <a:t> They are used to build and test circuits on breadboards or connect components to microcontrollers like Arduino without any soldering</a:t>
            </a:r>
          </a:p>
        </p:txBody>
      </p:sp>
      <p:pic>
        <p:nvPicPr>
          <p:cNvPr id="10" name="Picture Placeholder 9">
            <a:extLst>
              <a:ext uri="{FF2B5EF4-FFF2-40B4-BE49-F238E27FC236}">
                <a16:creationId xmlns:a16="http://schemas.microsoft.com/office/drawing/2014/main" id="{F6AFC845-7CA6-8D19-58A3-71D7B3D4336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6042" r="6042"/>
          <a:stretch>
            <a:fillRect/>
          </a:stretch>
        </p:blipFill>
        <p:spPr>
          <a:xfrm>
            <a:off x="6470248" y="0"/>
            <a:ext cx="5721752" cy="6858000"/>
          </a:xfrm>
          <a:prstGeom prst="rect">
            <a:avLst/>
          </a:prstGeom>
          <a:blipFill dpi="0" rotWithShape="1">
            <a:blip r:embed="rId3">
              <a:alphaModFix amt="60000"/>
            </a:blip>
            <a:srcRect/>
            <a:stretch>
              <a:fillRect/>
            </a:stretch>
          </a:blipFill>
        </p:spPr>
      </p:pic>
    </p:spTree>
    <p:extLst>
      <p:ext uri="{BB962C8B-B14F-4D97-AF65-F5344CB8AC3E}">
        <p14:creationId xmlns:p14="http://schemas.microsoft.com/office/powerpoint/2010/main" val="157689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9E8A-7F8F-F563-D9DC-EC9C9B9E5226}"/>
              </a:ext>
            </a:extLst>
          </p:cNvPr>
          <p:cNvSpPr>
            <a:spLocks noGrp="1"/>
          </p:cNvSpPr>
          <p:nvPr>
            <p:ph type="title"/>
          </p:nvPr>
        </p:nvSpPr>
        <p:spPr>
          <a:xfrm>
            <a:off x="995680" y="952500"/>
            <a:ext cx="4165600" cy="1303020"/>
          </a:xfrm>
        </p:spPr>
        <p:txBody>
          <a:bodyPr>
            <a:normAutofit/>
          </a:bodyPr>
          <a:lstStyle/>
          <a:p>
            <a:r>
              <a:rPr lang="en-US" sz="4800" b="1" u="sng" dirty="0"/>
              <a:t>LED</a:t>
            </a:r>
            <a:endParaRPr lang="en-IN" sz="4800" b="1" u="sng" dirty="0"/>
          </a:p>
        </p:txBody>
      </p:sp>
      <p:sp>
        <p:nvSpPr>
          <p:cNvPr id="3" name="Content Placeholder 2">
            <a:extLst>
              <a:ext uri="{FF2B5EF4-FFF2-40B4-BE49-F238E27FC236}">
                <a16:creationId xmlns:a16="http://schemas.microsoft.com/office/drawing/2014/main" id="{D9E7B9E3-98E6-5DA9-DDB2-6996F3D2BBEB}"/>
              </a:ext>
            </a:extLst>
          </p:cNvPr>
          <p:cNvSpPr>
            <a:spLocks noGrp="1"/>
          </p:cNvSpPr>
          <p:nvPr>
            <p:ph sz="quarter" idx="14"/>
          </p:nvPr>
        </p:nvSpPr>
        <p:spPr>
          <a:xfrm>
            <a:off x="301752" y="3099816"/>
            <a:ext cx="5794248" cy="3054096"/>
          </a:xfrm>
        </p:spPr>
        <p:txBody>
          <a:bodyPr>
            <a:noAutofit/>
          </a:bodyPr>
          <a:lstStyle/>
          <a:p>
            <a:r>
              <a:rPr lang="en-US" sz="2000" u="sng" dirty="0"/>
              <a:t>Role: </a:t>
            </a:r>
            <a:r>
              <a:rPr lang="en-US" sz="2000" dirty="0"/>
              <a:t>Visual output (Indicator).</a:t>
            </a:r>
          </a:p>
          <a:p>
            <a:r>
              <a:rPr lang="en-US" sz="2000" u="sng" dirty="0"/>
              <a:t>Function:</a:t>
            </a:r>
            <a:r>
              <a:rPr lang="en-US" sz="2000" dirty="0"/>
              <a:t> Lights up to provide a visual warning when a specific condition (e.g., flame detection) is met.</a:t>
            </a:r>
          </a:p>
          <a:p>
            <a:r>
              <a:rPr lang="en-US" sz="2000" dirty="0"/>
              <a:t>Connections: Anode (long leg) connects to digital pin 9 through a resistor, and cathode (short leg) connects to GND.</a:t>
            </a:r>
            <a:endParaRPr lang="en-IN" sz="2000" dirty="0"/>
          </a:p>
        </p:txBody>
      </p:sp>
      <p:pic>
        <p:nvPicPr>
          <p:cNvPr id="10" name="Picture Placeholder 9">
            <a:extLst>
              <a:ext uri="{FF2B5EF4-FFF2-40B4-BE49-F238E27FC236}">
                <a16:creationId xmlns:a16="http://schemas.microsoft.com/office/drawing/2014/main" id="{15D0E9B4-12EC-2D86-6B52-8742A4D712CF}"/>
              </a:ext>
            </a:extLst>
          </p:cNvPr>
          <p:cNvPicPr>
            <a:picLocks noGrp="1" noChangeAspect="1"/>
          </p:cNvPicPr>
          <p:nvPr>
            <p:ph type="pic" sz="quarter" idx="15"/>
          </p:nvPr>
        </p:nvPicPr>
        <p:blipFill>
          <a:blip r:embed="rId2"/>
          <a:srcRect t="6511" b="6511"/>
          <a:stretch/>
        </p:blipFill>
        <p:spPr>
          <a:xfrm>
            <a:off x="6532880" y="0"/>
            <a:ext cx="5659120" cy="6858000"/>
          </a:xfrm>
          <a:prstGeom prst="rect">
            <a:avLst/>
          </a:prstGeom>
          <a:blipFill dpi="0" rotWithShape="1">
            <a:blip r:embed="rId3">
              <a:alphaModFix amt="60000"/>
            </a:blip>
            <a:srcRect/>
            <a:stretch>
              <a:fillRect/>
            </a:stretch>
          </a:blipFill>
        </p:spPr>
      </p:pic>
    </p:spTree>
    <p:extLst>
      <p:ext uri="{BB962C8B-B14F-4D97-AF65-F5344CB8AC3E}">
        <p14:creationId xmlns:p14="http://schemas.microsoft.com/office/powerpoint/2010/main" val="3006083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C5FD-4739-A52E-5F56-A0D7F1429CDB}"/>
              </a:ext>
            </a:extLst>
          </p:cNvPr>
          <p:cNvSpPr>
            <a:spLocks noGrp="1"/>
          </p:cNvSpPr>
          <p:nvPr>
            <p:ph type="title"/>
          </p:nvPr>
        </p:nvSpPr>
        <p:spPr>
          <a:xfrm>
            <a:off x="4719485" y="88490"/>
            <a:ext cx="2841522" cy="845575"/>
          </a:xfrm>
        </p:spPr>
        <p:txBody>
          <a:bodyPr>
            <a:normAutofit fontScale="90000"/>
          </a:bodyPr>
          <a:lstStyle/>
          <a:p>
            <a:r>
              <a:rPr lang="en-IN" sz="3600" b="1" dirty="0"/>
              <a:t>Core Concept</a:t>
            </a:r>
            <a:br>
              <a:rPr lang="en-IN" b="1"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758AB5-E0C9-1EA6-BD6F-627F4DA44E37}"/>
                  </a:ext>
                </a:extLst>
              </p:cNvPr>
              <p:cNvSpPr>
                <a:spLocks noGrp="1"/>
              </p:cNvSpPr>
              <p:nvPr>
                <p:ph sz="quarter" idx="13"/>
              </p:nvPr>
            </p:nvSpPr>
            <p:spPr>
              <a:xfrm>
                <a:off x="301752" y="707923"/>
                <a:ext cx="11402568" cy="5948516"/>
              </a:xfrm>
            </p:spPr>
            <p:txBody>
              <a:bodyPr/>
              <a:lstStyle/>
              <a:p>
                <a:r>
                  <a:rPr lang="en-IN" sz="1800" dirty="0"/>
                  <a:t>The circuit uses an </a:t>
                </a:r>
                <a:r>
                  <a:rPr lang="en-IN" sz="1800" b="1" dirty="0"/>
                  <a:t>IR Flame Sensor</a:t>
                </a:r>
                <a:r>
                  <a:rPr lang="en-IN" sz="1800" dirty="0"/>
                  <a:t> to detect fire/heat radiation. When a flame is detected, the Arduino triggers a visual alert (LED) and an audio alert (Buzzer).</a:t>
                </a:r>
              </a:p>
              <a:p>
                <a:r>
                  <a:rPr lang="en-IN" sz="2800" b="1" dirty="0"/>
                  <a:t>					</a:t>
                </a:r>
              </a:p>
              <a:p>
                <a:r>
                  <a:rPr lang="en-IN" sz="2800" b="1" dirty="0"/>
                  <a:t>					Key Connections</a:t>
                </a:r>
              </a:p>
              <a:p>
                <a:pPr marL="285750" indent="-285750">
                  <a:buFont typeface="Arial" panose="020B0604020202020204" pitchFamily="34" charset="0"/>
                  <a:buChar char="•"/>
                </a:pPr>
                <a:r>
                  <a:rPr lang="en-IN" sz="1800" b="1" dirty="0"/>
                  <a:t>Flame Sensor Module:</a:t>
                </a:r>
                <a:endParaRPr lang="en-IN" sz="1800" dirty="0"/>
              </a:p>
              <a:p>
                <a:r>
                  <a:rPr lang="en-IN" sz="1800" dirty="0"/>
                  <a:t>     Powered by Arduino’s </a:t>
                </a:r>
                <a:r>
                  <a:rPr lang="en-IN" sz="1800" b="1" dirty="0"/>
                  <a:t>5V</a:t>
                </a:r>
                <a:r>
                  <a:rPr lang="en-IN" sz="1800" dirty="0"/>
                  <a:t> and </a:t>
                </a:r>
                <a:r>
                  <a:rPr lang="en-IN" sz="1800" b="1" dirty="0"/>
                  <a:t>GND</a:t>
                </a:r>
                <a:r>
                  <a:rPr lang="en-IN" sz="1800" dirty="0"/>
                  <a:t>.</a:t>
                </a:r>
              </a:p>
              <a:p>
                <a:pPr marL="285750" indent="-285750">
                  <a:buFont typeface="Arial" panose="020B0604020202020204" pitchFamily="34" charset="0"/>
                  <a:buChar char="•"/>
                </a:pPr>
                <a:r>
                  <a:rPr lang="en-IN" sz="1800" b="1" dirty="0"/>
                  <a:t>DO (Digital Output)</a:t>
                </a:r>
                <a:r>
                  <a:rPr lang="en-IN" sz="1800" dirty="0"/>
                  <a:t> pin is connected to </a:t>
                </a:r>
                <a:r>
                  <a:rPr lang="en-IN" sz="1800" b="1" dirty="0"/>
                  <a:t>Digital Pin 2</a:t>
                </a:r>
                <a:r>
                  <a:rPr lang="en-IN" sz="1800" dirty="0"/>
                  <a:t> on the Arduino to send a signal when fire is detected.</a:t>
                </a:r>
              </a:p>
              <a:p>
                <a:r>
                  <a:rPr lang="en-IN" sz="1800" b="1" dirty="0"/>
                  <a:t>     Buzzer:</a:t>
                </a:r>
                <a:endParaRPr lang="en-IN" sz="1800" dirty="0"/>
              </a:p>
              <a:p>
                <a:pPr marL="285750" indent="-285750">
                  <a:buFont typeface="Arial" panose="020B0604020202020204" pitchFamily="34" charset="0"/>
                  <a:buChar char="•"/>
                </a:pPr>
                <a:r>
                  <a:rPr lang="en-IN" sz="1800" dirty="0"/>
                  <a:t>Positive terminal connected to </a:t>
                </a:r>
                <a:r>
                  <a:rPr lang="en-IN" sz="1800" b="1" dirty="0"/>
                  <a:t>Digital Pin 8</a:t>
                </a:r>
                <a:r>
                  <a:rPr lang="en-IN" sz="1800" dirty="0"/>
                  <a:t>; negative terminal connected to </a:t>
                </a:r>
                <a:r>
                  <a:rPr lang="en-IN" sz="1800" b="1" dirty="0"/>
                  <a:t>GND</a:t>
                </a:r>
                <a:r>
                  <a:rPr lang="en-IN" sz="1800" dirty="0"/>
                  <a:t>.</a:t>
                </a:r>
              </a:p>
              <a:p>
                <a:r>
                  <a:rPr lang="en-IN" sz="1800" b="1" dirty="0"/>
                  <a:t>     LED:</a:t>
                </a:r>
                <a:endParaRPr lang="en-IN" sz="1800" dirty="0"/>
              </a:p>
              <a:p>
                <a:pPr marL="285750" indent="-285750">
                  <a:buFont typeface="Arial" panose="020B0604020202020204" pitchFamily="34" charset="0"/>
                  <a:buChar char="•"/>
                </a:pPr>
                <a:r>
                  <a:rPr lang="en-IN" sz="1800" dirty="0"/>
                  <a:t>Anode (positive) connected to </a:t>
                </a:r>
                <a:r>
                  <a:rPr lang="en-IN" sz="1800" b="1" dirty="0"/>
                  <a:t>Digital Pin 9</a:t>
                </a:r>
                <a:r>
                  <a:rPr lang="en-IN" sz="1800" dirty="0"/>
                  <a:t> through a </a:t>
                </a:r>
                <a14:m>
                  <m:oMath xmlns:m="http://schemas.openxmlformats.org/officeDocument/2006/math">
                    <m:r>
                      <a:rPr lang="en-IN" sz="1800" dirty="0">
                        <a:latin typeface="Cambria Math" panose="02040503050406030204" pitchFamily="18" charset="0"/>
                      </a:rPr>
                      <m:t>220 </m:t>
                    </m:r>
                    <m:r>
                      <m:rPr>
                        <m:sty m:val="p"/>
                      </m:rPr>
                      <a:rPr lang="en-IN" sz="1800" dirty="0">
                        <a:latin typeface="Cambria Math" panose="02040503050406030204" pitchFamily="18" charset="0"/>
                      </a:rPr>
                      <m:t>Ω</m:t>
                    </m:r>
                  </m:oMath>
                </a14:m>
                <a:r>
                  <a:rPr lang="en-IN" sz="1800" dirty="0"/>
                  <a:t>current-limiting resistor; cathode (negative) connected to </a:t>
                </a:r>
                <a:r>
                  <a:rPr lang="en-IN" sz="1800" b="1" dirty="0"/>
                  <a:t>GND</a:t>
                </a:r>
                <a:r>
                  <a:rPr lang="en-IN" sz="1800" dirty="0"/>
                  <a:t>.</a:t>
                </a:r>
              </a:p>
              <a:p>
                <a:endParaRPr lang="en-IN" dirty="0"/>
              </a:p>
            </p:txBody>
          </p:sp>
        </mc:Choice>
        <mc:Fallback xmlns="">
          <p:sp>
            <p:nvSpPr>
              <p:cNvPr id="3" name="Content Placeholder 2">
                <a:extLst>
                  <a:ext uri="{FF2B5EF4-FFF2-40B4-BE49-F238E27FC236}">
                    <a16:creationId xmlns:a16="http://schemas.microsoft.com/office/drawing/2014/main" id="{F2758AB5-E0C9-1EA6-BD6F-627F4DA44E37}"/>
                  </a:ext>
                </a:extLst>
              </p:cNvPr>
              <p:cNvSpPr>
                <a:spLocks noGrp="1" noRot="1" noChangeAspect="1" noMove="1" noResize="1" noEditPoints="1" noAdjustHandles="1" noChangeArrowheads="1" noChangeShapeType="1" noTextEdit="1"/>
              </p:cNvSpPr>
              <p:nvPr>
                <p:ph sz="quarter" idx="13"/>
              </p:nvPr>
            </p:nvSpPr>
            <p:spPr>
              <a:xfrm>
                <a:off x="301752" y="707923"/>
                <a:ext cx="11402568" cy="5948516"/>
              </a:xfrm>
              <a:blipFill>
                <a:blip r:embed="rId2"/>
                <a:stretch>
                  <a:fillRect l="-481"/>
                </a:stretch>
              </a:blipFill>
            </p:spPr>
            <p:txBody>
              <a:bodyPr/>
              <a:lstStyle/>
              <a:p>
                <a:r>
                  <a:rPr lang="en-IN">
                    <a:noFill/>
                  </a:rPr>
                  <a:t> </a:t>
                </a:r>
              </a:p>
            </p:txBody>
          </p:sp>
        </mc:Fallback>
      </mc:AlternateContent>
    </p:spTree>
    <p:extLst>
      <p:ext uri="{BB962C8B-B14F-4D97-AF65-F5344CB8AC3E}">
        <p14:creationId xmlns:p14="http://schemas.microsoft.com/office/powerpoint/2010/main" val="1964963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0D82-70B4-A1C8-C122-D4E57EA32E69}"/>
              </a:ext>
            </a:extLst>
          </p:cNvPr>
          <p:cNvSpPr>
            <a:spLocks noGrp="1"/>
          </p:cNvSpPr>
          <p:nvPr>
            <p:ph type="title"/>
          </p:nvPr>
        </p:nvSpPr>
        <p:spPr>
          <a:xfrm>
            <a:off x="4155440" y="162561"/>
            <a:ext cx="3606800" cy="843279"/>
          </a:xfrm>
        </p:spPr>
        <p:txBody>
          <a:bodyPr>
            <a:normAutofit/>
          </a:bodyPr>
          <a:lstStyle/>
          <a:p>
            <a:r>
              <a:rPr lang="en-US" sz="4400" b="1" u="sng" dirty="0"/>
              <a:t>Circuit Design</a:t>
            </a:r>
            <a:endParaRPr lang="en-IN" sz="4400" b="1" u="sng" dirty="0"/>
          </a:p>
        </p:txBody>
      </p:sp>
      <p:pic>
        <p:nvPicPr>
          <p:cNvPr id="5" name="Content Placeholder 4">
            <a:extLst>
              <a:ext uri="{FF2B5EF4-FFF2-40B4-BE49-F238E27FC236}">
                <a16:creationId xmlns:a16="http://schemas.microsoft.com/office/drawing/2014/main" id="{DA775B67-8819-D045-652F-16E7860FB61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87681" y="1117600"/>
            <a:ext cx="10942320" cy="5577839"/>
          </a:xfrm>
          <a:prstGeom prst="rect">
            <a:avLst/>
          </a:prstGeom>
        </p:spPr>
      </p:pic>
    </p:spTree>
    <p:extLst>
      <p:ext uri="{BB962C8B-B14F-4D97-AF65-F5344CB8AC3E}">
        <p14:creationId xmlns:p14="http://schemas.microsoft.com/office/powerpoint/2010/main" val="1328369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FDCD-A769-5E94-ACB9-9A524A646E9E}"/>
              </a:ext>
            </a:extLst>
          </p:cNvPr>
          <p:cNvSpPr>
            <a:spLocks noGrp="1"/>
          </p:cNvSpPr>
          <p:nvPr>
            <p:ph type="title"/>
          </p:nvPr>
        </p:nvSpPr>
        <p:spPr>
          <a:xfrm>
            <a:off x="4612641" y="101600"/>
            <a:ext cx="3190240" cy="558800"/>
          </a:xfrm>
        </p:spPr>
        <p:txBody>
          <a:bodyPr>
            <a:normAutofit/>
          </a:bodyPr>
          <a:lstStyle/>
          <a:p>
            <a:r>
              <a:rPr lang="en-US" sz="3200" b="1" u="sng" dirty="0"/>
              <a:t>PROJECT CODE</a:t>
            </a:r>
            <a:endParaRPr lang="en-IN" sz="3200" b="1" u="sng" dirty="0"/>
          </a:p>
        </p:txBody>
      </p:sp>
      <p:pic>
        <p:nvPicPr>
          <p:cNvPr id="5" name="Content Placeholder 4">
            <a:extLst>
              <a:ext uri="{FF2B5EF4-FFF2-40B4-BE49-F238E27FC236}">
                <a16:creationId xmlns:a16="http://schemas.microsoft.com/office/drawing/2014/main" id="{CA824006-D90F-E1E4-CEAA-F543BE18D7FD}"/>
              </a:ext>
            </a:extLst>
          </p:cNvPr>
          <p:cNvPicPr>
            <a:picLocks noGrp="1" noChangeAspect="1"/>
          </p:cNvPicPr>
          <p:nvPr>
            <p:ph sz="quarter" idx="13"/>
          </p:nvPr>
        </p:nvPicPr>
        <p:blipFill>
          <a:blip r:embed="rId2"/>
          <a:stretch>
            <a:fillRect/>
          </a:stretch>
        </p:blipFill>
        <p:spPr>
          <a:xfrm>
            <a:off x="142240" y="731520"/>
            <a:ext cx="11877040" cy="6126479"/>
          </a:xfrm>
          <a:prstGeom prst="rect">
            <a:avLst/>
          </a:prstGeom>
        </p:spPr>
      </p:pic>
    </p:spTree>
    <p:extLst>
      <p:ext uri="{BB962C8B-B14F-4D97-AF65-F5344CB8AC3E}">
        <p14:creationId xmlns:p14="http://schemas.microsoft.com/office/powerpoint/2010/main" val="2465384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EFB8-1C64-F100-BFDC-3BE939BC89AC}"/>
              </a:ext>
            </a:extLst>
          </p:cNvPr>
          <p:cNvSpPr>
            <a:spLocks noGrp="1"/>
          </p:cNvSpPr>
          <p:nvPr>
            <p:ph type="title"/>
          </p:nvPr>
        </p:nvSpPr>
        <p:spPr>
          <a:xfrm>
            <a:off x="3545841" y="722282"/>
            <a:ext cx="4724400" cy="731520"/>
          </a:xfrm>
        </p:spPr>
        <p:txBody>
          <a:bodyPr>
            <a:noAutofit/>
          </a:bodyPr>
          <a:lstStyle/>
          <a:p>
            <a:r>
              <a:rPr lang="en-US" sz="7200" b="1" u="sng" dirty="0"/>
              <a:t>Conclusion</a:t>
            </a:r>
            <a:endParaRPr lang="en-IN" sz="7200" b="1" u="sng" dirty="0"/>
          </a:p>
        </p:txBody>
      </p:sp>
      <p:sp>
        <p:nvSpPr>
          <p:cNvPr id="3" name="Content Placeholder 2">
            <a:extLst>
              <a:ext uri="{FF2B5EF4-FFF2-40B4-BE49-F238E27FC236}">
                <a16:creationId xmlns:a16="http://schemas.microsoft.com/office/drawing/2014/main" id="{F13BB643-B8D0-38BD-55B7-9C17165809AC}"/>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sz="2400" dirty="0"/>
              <a:t>This project successfully demonstrates the design and implementation of an Arduino-based automated detection and alert system.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By interfacing a digital sensor module (such as an IR proximity or flame sensor) with an Arduino Uno microcontroller, the system effectively processes input signals in real time to trigger immediate audiovisual warnings via an LED indicator and a piezo buzzer.</a:t>
            </a:r>
            <a:endParaRPr lang="en-IN" sz="2400" dirty="0"/>
          </a:p>
        </p:txBody>
      </p:sp>
    </p:spTree>
    <p:extLst>
      <p:ext uri="{BB962C8B-B14F-4D97-AF65-F5344CB8AC3E}">
        <p14:creationId xmlns:p14="http://schemas.microsoft.com/office/powerpoint/2010/main" val="160427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E795-2F7D-C662-9A46-1A755FEEA6A4}"/>
              </a:ext>
            </a:extLst>
          </p:cNvPr>
          <p:cNvSpPr>
            <a:spLocks noGrp="1"/>
          </p:cNvSpPr>
          <p:nvPr>
            <p:ph type="title"/>
          </p:nvPr>
        </p:nvSpPr>
        <p:spPr>
          <a:xfrm>
            <a:off x="8367252" y="722281"/>
            <a:ext cx="1764517" cy="2522363"/>
          </a:xfrm>
        </p:spPr>
        <p:txBody>
          <a:bodyPr>
            <a:normAutofit/>
          </a:bodyPr>
          <a:lstStyle/>
          <a:p>
            <a:r>
              <a:rPr lang="en-US" sz="4400" dirty="0"/>
              <a:t>…</a:t>
            </a:r>
            <a:endParaRPr lang="en-IN" sz="4400" dirty="0"/>
          </a:p>
        </p:txBody>
      </p:sp>
      <p:sp>
        <p:nvSpPr>
          <p:cNvPr id="3" name="Content Placeholder 2">
            <a:extLst>
              <a:ext uri="{FF2B5EF4-FFF2-40B4-BE49-F238E27FC236}">
                <a16:creationId xmlns:a16="http://schemas.microsoft.com/office/drawing/2014/main" id="{B37AB707-634C-BF9F-66C6-805406DAA5C8}"/>
              </a:ext>
            </a:extLst>
          </p:cNvPr>
          <p:cNvSpPr>
            <a:spLocks noGrp="1"/>
          </p:cNvSpPr>
          <p:nvPr>
            <p:ph sz="quarter" idx="13"/>
          </p:nvPr>
        </p:nvSpPr>
        <p:spPr>
          <a:xfrm>
            <a:off x="2664542" y="1681316"/>
            <a:ext cx="7393858" cy="2074608"/>
          </a:xfrm>
        </p:spPr>
        <p:txBody>
          <a:bodyPr>
            <a:normAutofit/>
          </a:bodyPr>
          <a:lstStyle/>
          <a:p>
            <a:r>
              <a:rPr lang="en-US" sz="9600" b="1" dirty="0">
                <a:latin typeface="Bahnschrift SemiBold" panose="020B0502040204020203" pitchFamily="34" charset="0"/>
              </a:rPr>
              <a:t>Thank you</a:t>
            </a:r>
            <a:endParaRPr lang="en-IN" sz="9600" b="1" dirty="0">
              <a:latin typeface="Bahnschrift SemiBold" panose="020B0502040204020203" pitchFamily="34" charset="0"/>
            </a:endParaRPr>
          </a:p>
        </p:txBody>
      </p:sp>
    </p:spTree>
    <p:extLst>
      <p:ext uri="{BB962C8B-B14F-4D97-AF65-F5344CB8AC3E}">
        <p14:creationId xmlns:p14="http://schemas.microsoft.com/office/powerpoint/2010/main" val="840592502"/>
      </p:ext>
    </p:extLst>
  </p:cSld>
  <p:clrMapOvr>
    <a:masterClrMapping/>
  </p:clrMapOvr>
  <p:transition spd="slow">
    <p:comb/>
  </p:transition>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856</TotalTime>
  <Words>880</Words>
  <Application>Microsoft Office PowerPoint</Application>
  <PresentationFormat>Widescreen</PresentationFormat>
  <Paragraphs>70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Arial Nova Light</vt:lpstr>
      <vt:lpstr>Bahnschrift SemiBold</vt:lpstr>
      <vt:lpstr>Bahnschrift SemiLight</vt:lpstr>
      <vt:lpstr>Cambria Math</vt:lpstr>
      <vt:lpstr>Courier New</vt:lpstr>
      <vt:lpstr>Dark Gradient</vt:lpstr>
      <vt:lpstr>Fire Alarm  </vt:lpstr>
      <vt:lpstr>Introduction</vt:lpstr>
      <vt:lpstr>Working</vt:lpstr>
      <vt:lpstr>Applications</vt:lpstr>
      <vt:lpstr>Advantages</vt:lpstr>
      <vt:lpstr>PowerPoint Presentation</vt:lpstr>
      <vt:lpstr>Core Components Overview </vt:lpstr>
      <vt:lpstr>Arduino UNO</vt:lpstr>
      <vt:lpstr>Flame Sensor</vt:lpstr>
      <vt:lpstr>Piezo Buzzer</vt:lpstr>
      <vt:lpstr>Jumper wires</vt:lpstr>
      <vt:lpstr>LED</vt:lpstr>
      <vt:lpstr>Core Concept </vt:lpstr>
      <vt:lpstr>Circuit Design</vt:lpstr>
      <vt:lpstr>PROJECT CODE</vt:lpstr>
      <vt:lpstr>Conclusion</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arushsrivastava942@gmail.com</dc:creator>
  <cp:lastModifiedBy>arushsrivastava942@gmail.com</cp:lastModifiedBy>
  <cp:revision>3</cp:revision>
  <dcterms:created xsi:type="dcterms:W3CDTF">2026-07-25T08:42:45Z</dcterms:created>
  <dcterms:modified xsi:type="dcterms:W3CDTF">2026-07-27T14:23:19Z</dcterms:modified>
</cp:coreProperties>
</file>